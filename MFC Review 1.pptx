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72" r:id="rId8"/>
    <p:sldId id="271" r:id="rId9"/>
    <p:sldId id="270" r:id="rId10"/>
    <p:sldId id="269" r:id="rId11"/>
    <p:sldId id="277" r:id="rId12"/>
    <p:sldId id="278" r:id="rId13"/>
    <p:sldId id="279" r:id="rId14"/>
    <p:sldId id="273" r:id="rId15"/>
    <p:sldId id="280" r:id="rId16"/>
    <p:sldId id="281" r:id="rId17"/>
    <p:sldId id="275" r:id="rId18"/>
    <p:sldId id="274" r:id="rId19"/>
    <p:sldId id="267" r:id="rId20"/>
  </p:sldIdLst>
  <p:sldSz cx="18288000" cy="10287000"/>
  <p:notesSz cx="6858000" cy="9144000"/>
  <p:embeddedFontLst>
    <p:embeddedFont>
      <p:font typeface="Arturo" panose="020B0604020202020204" charset="0"/>
      <p:regular r:id="rId21"/>
    </p:embeddedFont>
    <p:embeddedFont>
      <p:font typeface="Berlin Sans FB" panose="020E0602020502020306" pitchFamily="34" charset="0"/>
      <p:regular r:id="rId22"/>
      <p:bold r:id="rId23"/>
    </p:embeddedFont>
    <p:embeddedFont>
      <p:font typeface="Ebrima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21-Jan-26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111571" y="8228783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304537" y="-495242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601075" y="39104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52827" y="2767824"/>
            <a:ext cx="13630098" cy="25798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6600" dirty="0">
                <a:solidFill>
                  <a:schemeClr val="accent3">
                    <a:lumMod val="60000"/>
                    <a:lumOff val="40000"/>
                  </a:schemeClr>
                </a:solidFill>
                <a:latin typeface="Berlin Sans FB" panose="020E0602020502020306" pitchFamily="34" charset="0"/>
                <a:cs typeface="Nyutro Sans" panose="020B0604020202020204" charset="0"/>
              </a:rPr>
              <a:t>Sparse Transform and Compressed Sensing for MRI Image Reconstruction</a:t>
            </a:r>
            <a:endParaRPr lang="en-US" sz="6600" dirty="0">
              <a:solidFill>
                <a:schemeClr val="accent3">
                  <a:lumMod val="60000"/>
                  <a:lumOff val="40000"/>
                </a:schemeClr>
              </a:solidFill>
              <a:latin typeface="Berlin Sans FB" panose="020E0602020502020306" pitchFamily="34" charset="0"/>
              <a:ea typeface="Arturo"/>
              <a:cs typeface="Nyutro Sans" panose="020B0604020202020204" charset="0"/>
              <a:sym typeface="Arturo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2940840" y="576239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1391551" y="4457812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2" y="0"/>
                </a:lnTo>
                <a:lnTo>
                  <a:pt x="2783102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E6C83-663D-55BF-7A54-3E549ECF43E0}"/>
              </a:ext>
            </a:extLst>
          </p:cNvPr>
          <p:cNvSpPr txBox="1"/>
          <p:nvPr/>
        </p:nvSpPr>
        <p:spPr>
          <a:xfrm>
            <a:off x="9020480" y="5524500"/>
            <a:ext cx="5762319" cy="4690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16: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Sathvik - 24240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Uday  - 24210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Varshini - 24216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Sai Ganesh - 24226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4588" y="947972"/>
            <a:ext cx="978262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/>
                <a:ea typeface="Arturo"/>
                <a:cs typeface="Arturo"/>
                <a:sym typeface="Arturo"/>
              </a:rPr>
              <a:t>What is MRI?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05454" y="2340348"/>
            <a:ext cx="13717047" cy="6181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MRI (Magnetic Resonance Imaging) is a medical imaging technique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Used to see brain, spine, organs, tissues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Produces high-quality images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Problem: MRI scan takes 30–40 minutes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Long scan time causes: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Patient discomfort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High hospital cost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Large data storage</a:t>
            </a:r>
            <a:endParaRPr lang="en-US" sz="34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  <a:sym typeface="Nunito Sans Condensed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DE28B0-09C1-9F24-8516-3E944A0A3A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600" y="5762391"/>
            <a:ext cx="7162542" cy="38797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820892" y="681571"/>
            <a:ext cx="9007348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/>
                <a:ea typeface="Arturo"/>
                <a:cs typeface="Arturo"/>
                <a:sym typeface="Arturo"/>
              </a:rPr>
              <a:t>Problem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A17E7C-9602-7E05-ABCA-A9829A9DA280}"/>
              </a:ext>
            </a:extLst>
          </p:cNvPr>
          <p:cNvSpPr txBox="1"/>
          <p:nvPr/>
        </p:nvSpPr>
        <p:spPr>
          <a:xfrm>
            <a:off x="2547289" y="2476500"/>
            <a:ext cx="14441774" cy="4597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MRI collects a huge amount of data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Full data collection = long scan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If we reduce data → image quality decreases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Goal: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Get good-quality MRI images using </a:t>
            </a:r>
            <a:r>
              <a:rPr lang="en-US" sz="4000" b="1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data</a:t>
            </a: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and </a:t>
            </a:r>
            <a:r>
              <a:rPr lang="en-US" sz="4000" b="1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time</a:t>
            </a: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2050" name="Picture 2" descr="Magnetic resonance imaging of the brain ...">
            <a:extLst>
              <a:ext uri="{FF2B5EF4-FFF2-40B4-BE49-F238E27FC236}">
                <a16:creationId xmlns:a16="http://schemas.microsoft.com/office/drawing/2014/main" id="{3DE33230-29B7-37A0-EA4D-427E1BD84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0" y="2627554"/>
            <a:ext cx="2503036" cy="267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220850" y="592628"/>
            <a:ext cx="12961874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What is Compressed Sensing (CS)?</a:t>
            </a:r>
            <a:endParaRPr lang="en-US" sz="50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  <a:ea typeface="Arturo"/>
              <a:cs typeface="Arturo"/>
              <a:sym typeface="Artur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9244FF-5585-2FB3-F745-C808CA24C02A}"/>
              </a:ext>
            </a:extLst>
          </p:cNvPr>
          <p:cNvSpPr txBox="1"/>
          <p:nvPr/>
        </p:nvSpPr>
        <p:spPr>
          <a:xfrm>
            <a:off x="2765134" y="2247900"/>
            <a:ext cx="10981081" cy="5517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Compressed Sensing is a smart signal processing technique that: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Uses fewer measurements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Still reconstructs the original image accurately</a:t>
            </a:r>
          </a:p>
          <a:p>
            <a:pPr>
              <a:lnSpc>
                <a:spcPct val="150000"/>
              </a:lnSpc>
            </a:pP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“We don’t need all data if the image is sparse.”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4C65E6-43BB-2174-E472-5C5220DFDF48}"/>
              </a:ext>
            </a:extLst>
          </p:cNvPr>
          <p:cNvSpPr txBox="1"/>
          <p:nvPr/>
        </p:nvSpPr>
        <p:spPr>
          <a:xfrm>
            <a:off x="1820892" y="442852"/>
            <a:ext cx="15296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Key Principles of Compressed Sensing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E2E890-313C-5EB4-5370-1E8AE7313EA5}"/>
              </a:ext>
            </a:extLst>
          </p:cNvPr>
          <p:cNvSpPr txBox="1"/>
          <p:nvPr/>
        </p:nvSpPr>
        <p:spPr>
          <a:xfrm>
            <a:off x="2703341" y="1790700"/>
            <a:ext cx="10894218" cy="748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Sparsity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has many unimportant values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Only few important coefficients matter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Incoherent Sampling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Randomly collect data (not line by line)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Avoids repeating similar information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Non-linear Reconstruction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Use optimization algorithms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Recover image from incomplete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514600" y="592628"/>
            <a:ext cx="11597809" cy="1778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Why Compressed Sensing is Important for MRI</a:t>
            </a:r>
            <a:endParaRPr lang="en-US" sz="50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  <a:ea typeface="Arturo"/>
              <a:cs typeface="Arturo"/>
              <a:sym typeface="Artu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590152" y="3062643"/>
            <a:ext cx="9962664" cy="499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Reduces MRI scan time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Less patient discomfort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Faster diagnosis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Lower storage and computation cost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Maintains diagnostic image quality</a:t>
            </a:r>
            <a:endParaRPr 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  <a:sym typeface="Nunito Sans Condensed"/>
            </a:endParaRPr>
          </a:p>
        </p:txBody>
      </p:sp>
      <p:sp>
        <p:nvSpPr>
          <p:cNvPr id="8" name="Freeform 8"/>
          <p:cNvSpPr/>
          <p:nvPr/>
        </p:nvSpPr>
        <p:spPr>
          <a:xfrm rot="-190238">
            <a:off x="-1292438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287979" flipH="1" flipV="1">
            <a:off x="16165156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312EA-5247-FD1F-5EE7-BDA1B059B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D2ED564-E8CA-2531-4F03-6825CE6ECB1A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EF73219-01E1-27A2-0D11-3CFBC0375DC8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AD4A918-D798-968D-01A2-BE64D10163E9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01A9C5C-66DE-0ECA-737B-B63734233EC5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9A796E9-5FDF-6669-FDFF-AB8B88FD85E9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E503D1-0031-BF7D-A5DA-6F8E1E9F9E28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2522A1-8204-ADEC-BC1A-40393BCDBDF8}"/>
              </a:ext>
            </a:extLst>
          </p:cNvPr>
          <p:cNvSpPr txBox="1"/>
          <p:nvPr/>
        </p:nvSpPr>
        <p:spPr>
          <a:xfrm>
            <a:off x="2315367" y="2523603"/>
            <a:ext cx="14150456" cy="5517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simulate under sampled MRI reconstruction.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implement sparse transform-based reconstruction </a:t>
            </a:r>
            <a:r>
              <a:rPr lang="en-US" alt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  algorithms.</a:t>
            </a:r>
            <a:endParaRPr lang="en-US" altLang="en-US" sz="40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compare reconstruction quality using different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To analyze trade-offs between image quality and computational complexity.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31216-CDC5-6189-6085-028DEDC91280}"/>
              </a:ext>
            </a:extLst>
          </p:cNvPr>
          <p:cNvSpPr txBox="1"/>
          <p:nvPr/>
        </p:nvSpPr>
        <p:spPr>
          <a:xfrm>
            <a:off x="2667000" y="858090"/>
            <a:ext cx="10894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OBJECTIVES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65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37422-DB33-169C-7B97-EDE964C7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411F0A-EBCE-F428-702C-57B197DBF246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FF6B75-FFC5-F005-6A60-E92A4DAEBADB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96EAE6-0255-AA6D-2F01-BFAB8B6B8B60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366B030-C874-17A2-E505-E14C1E4A1715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686E3E8-6162-FFC2-2F6F-0159FF512BEC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565EF81-5C07-D88E-8B01-FCA8AEE4874E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A80AD-32ED-30FD-DDC4-8BE4F472C03D}"/>
              </a:ext>
            </a:extLst>
          </p:cNvPr>
          <p:cNvSpPr txBox="1"/>
          <p:nvPr/>
        </p:nvSpPr>
        <p:spPr>
          <a:xfrm>
            <a:off x="2788421" y="2038261"/>
            <a:ext cx="10894218" cy="6585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Input MRI image acquisition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preprocessing and normalization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Transformation to sparse domain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Random under-sampling of coefficients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Inverse reconstruction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Performance evaluation using image quality metrics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91932-E4CD-D8D1-4AD2-F29C6FBE5606}"/>
              </a:ext>
            </a:extLst>
          </p:cNvPr>
          <p:cNvSpPr txBox="1"/>
          <p:nvPr/>
        </p:nvSpPr>
        <p:spPr>
          <a:xfrm>
            <a:off x="2514600" y="611678"/>
            <a:ext cx="10894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METHODOLOGY</a:t>
            </a:r>
            <a:endParaRPr lang="en-US" sz="54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26CD1-5F0F-EFEC-64D1-BABC5E11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ACCA8D-8573-C2F2-AB4A-E5858FA860A6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ED1E64-4C0A-7590-BD87-44B594EAD3B0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6C3B364-CFE3-58E2-B596-CF0486DE2233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961F5A5-8363-B982-947F-72DD34279576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A7B8702-F46C-D2CF-CED1-7D51AB93D1EB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95E4EA-95DC-CC3E-2C36-1A9D38E0B8C3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E0769-2844-D5EE-7E69-C93A0EFC1629}"/>
              </a:ext>
            </a:extLst>
          </p:cNvPr>
          <p:cNvSpPr txBox="1"/>
          <p:nvPr/>
        </p:nvSpPr>
        <p:spPr>
          <a:xfrm>
            <a:off x="2783658" y="2373685"/>
            <a:ext cx="10894218" cy="5536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paper compares 4 algorithms: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DWT - Discrete Wavelet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FFT - Fast Fourier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DCT - Discrete Cosine Transform</a:t>
            </a:r>
          </a:p>
          <a:p>
            <a:pPr marL="742950" indent="-742950">
              <a:lnSpc>
                <a:spcPct val="150000"/>
              </a:lnSpc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Basis Pursuit (BP) - True Compressed Sensing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D9972-76F0-CA27-16E6-55478EB843C0}"/>
              </a:ext>
            </a:extLst>
          </p:cNvPr>
          <p:cNvSpPr txBox="1"/>
          <p:nvPr/>
        </p:nvSpPr>
        <p:spPr>
          <a:xfrm>
            <a:off x="2438400" y="592628"/>
            <a:ext cx="1249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Reconstruction Methods Used</a:t>
            </a:r>
          </a:p>
        </p:txBody>
      </p:sp>
    </p:spTree>
    <p:extLst>
      <p:ext uri="{BB962C8B-B14F-4D97-AF65-F5344CB8AC3E}">
        <p14:creationId xmlns:p14="http://schemas.microsoft.com/office/powerpoint/2010/main" val="1440894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C6613-64C9-9214-DEFC-E034E468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875DD2-4577-F1BF-0F25-91E770EE0504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BBC7E3-C7BE-81C6-9025-23742865EF14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142F790-F775-630B-0A0C-6D18A8A2ED4E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9FA7183-D775-7EE8-A466-229886ED24E0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AD29505-2529-59FB-0D8D-F0CC9F6561AB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A3F695B-EE17-59D3-F554-6E7D1CC0FA1A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BD0B1B-20DF-0E0E-A014-7AFF058FFDE4}"/>
              </a:ext>
            </a:extLst>
          </p:cNvPr>
          <p:cNvSpPr txBox="1"/>
          <p:nvPr/>
        </p:nvSpPr>
        <p:spPr>
          <a:xfrm>
            <a:off x="1557959" y="2798070"/>
            <a:ext cx="12723678" cy="7387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take a big picture (MRI scan).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break it into smaller building blocks (wavelet coefficients).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keep only a random portion of those blocks (sampling).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try to rebuild the picture from those fewer blocks.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Finally, you check how close the rebuilt picture is to the original.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Pros: Preserves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Cons: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Not consistent with real MRI physics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Image quality is low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8A0A5-1ECF-6AB8-DB1D-2EEB67E87454}"/>
              </a:ext>
            </a:extLst>
          </p:cNvPr>
          <p:cNvSpPr txBox="1"/>
          <p:nvPr/>
        </p:nvSpPr>
        <p:spPr>
          <a:xfrm>
            <a:off x="2537543" y="770688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1:- DWT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Discrete Wavelet Transform</a:t>
            </a:r>
          </a:p>
        </p:txBody>
      </p:sp>
      <p:pic>
        <p:nvPicPr>
          <p:cNvPr id="1026" name="Picture 2" descr="Wavelet - Wikipedia">
            <a:extLst>
              <a:ext uri="{FF2B5EF4-FFF2-40B4-BE49-F238E27FC236}">
                <a16:creationId xmlns:a16="http://schemas.microsoft.com/office/drawing/2014/main" id="{74C63F93-2245-B8FE-D023-61DCF4658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1427" y="2798070"/>
            <a:ext cx="3238603" cy="314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451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B962D-04B3-6F0D-9386-785FF559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29374E-2B17-5ADD-0021-0CE4672ACEA5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D3D2D0-8A69-8C44-8775-E7A0508E5237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C4A3AC-679B-32BF-6CD3-F6995E6C875D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86A8B3D-3260-DA57-5C30-1282909864B1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1F423F0-4900-2D69-DECC-3A1E1582ACDC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C82679D-CF5F-4D79-DD54-041911D60B0F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98A3A-EB81-BFEB-C297-1938202D4B38}"/>
              </a:ext>
            </a:extLst>
          </p:cNvPr>
          <p:cNvSpPr txBox="1"/>
          <p:nvPr/>
        </p:nvSpPr>
        <p:spPr>
          <a:xfrm>
            <a:off x="2190422" y="370271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1:- DWT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Discrete Wavelet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34233-0A05-EC29-A697-4471BA8A5BE5}"/>
              </a:ext>
            </a:extLst>
          </p:cNvPr>
          <p:cNvSpPr txBox="1"/>
          <p:nvPr/>
        </p:nvSpPr>
        <p:spPr>
          <a:xfrm>
            <a:off x="1504411" y="2775598"/>
            <a:ext cx="10716164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LL (Approximation) - Overall shape and smooth regions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LH (Horizontal Details) - Horizontal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HL (Vertical Details) - Vertical edges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HH (Diagonal Details) - Fine textures and noise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F75FBD-4088-6781-BB15-380347B5ED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2376544"/>
            <a:ext cx="5423283" cy="58149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6DE9AB-A274-ED7E-DE70-FC24CC603824}"/>
              </a:ext>
            </a:extLst>
          </p:cNvPr>
          <p:cNvSpPr txBox="1"/>
          <p:nvPr/>
        </p:nvSpPr>
        <p:spPr>
          <a:xfrm>
            <a:off x="3141552" y="7559501"/>
            <a:ext cx="94002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LL- Low pass filter applied to rows and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LH – Low pass filter to rows , high pass filter to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HL – High pass filter to rows , low pass filter to columns</a:t>
            </a:r>
          </a:p>
          <a:p>
            <a:r>
              <a:rPr lang="en-US" sz="3200" dirty="0">
                <a:solidFill>
                  <a:schemeClr val="bg1"/>
                </a:solidFill>
              </a:rPr>
              <a:t>HH -  High pass filter applied to rows and columns</a:t>
            </a:r>
          </a:p>
        </p:txBody>
      </p:sp>
    </p:spTree>
    <p:extLst>
      <p:ext uri="{BB962C8B-B14F-4D97-AF65-F5344CB8AC3E}">
        <p14:creationId xmlns:p14="http://schemas.microsoft.com/office/powerpoint/2010/main" val="1639212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FF783-471A-49BD-7923-AB79FB6B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1D7A0B-4730-778A-89B2-C99890A54E55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70A1172-0A28-295A-4E59-CE46803D63DD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E572B4C-E19B-84D1-6EAE-6767E775C139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7E21830-4F3D-5165-CBF5-5016DD2E63AF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CB66631-960F-86ED-B63C-C0A067C8B86C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55851C6-4E44-67D4-E346-0FD1AE0A4067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A4A773-322F-048E-BA08-2B668DF22E77}"/>
              </a:ext>
            </a:extLst>
          </p:cNvPr>
          <p:cNvSpPr txBox="1"/>
          <p:nvPr/>
        </p:nvSpPr>
        <p:spPr>
          <a:xfrm>
            <a:off x="1557959" y="2798070"/>
            <a:ext cx="12723678" cy="6853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take a big picture (MRI scan).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convert it into frequency components.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keep only a random portion of those frequency components (sampling).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You try to rebuild the picture using the inverse FFT from those fewer components.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Finally, you check how close the rebuilt picture is to the original.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Pros: Physically related to MRI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Cons: Visible noise and artifacts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2A83C5-BE21-6F06-4E99-88BF7DEB6C4C}"/>
              </a:ext>
            </a:extLst>
          </p:cNvPr>
          <p:cNvSpPr txBox="1"/>
          <p:nvPr/>
        </p:nvSpPr>
        <p:spPr>
          <a:xfrm>
            <a:off x="2537543" y="770688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2:- FFT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Fast Fourier Transform</a:t>
            </a:r>
          </a:p>
        </p:txBody>
      </p:sp>
    </p:spTree>
    <p:extLst>
      <p:ext uri="{BB962C8B-B14F-4D97-AF65-F5344CB8AC3E}">
        <p14:creationId xmlns:p14="http://schemas.microsoft.com/office/powerpoint/2010/main" val="3753409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B45EE-9ADC-0C86-AB38-2DE439E0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A14E16-9D0B-B2D5-34BB-56BFFFD291D2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4B2820A-9760-A0F4-2928-76B852D8C95A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F2E096-A8DA-5349-A4A8-97A28F378F76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57AAEB6-10FE-9AC9-2E56-753B9DC42B78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DBD777B-6C3D-7D31-5511-F30511B4467A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D308970-44C5-C14F-3B0C-229E101EAA10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1145D-509B-00CE-751F-5FDF5DDC3184}"/>
              </a:ext>
            </a:extLst>
          </p:cNvPr>
          <p:cNvSpPr txBox="1"/>
          <p:nvPr/>
        </p:nvSpPr>
        <p:spPr>
          <a:xfrm>
            <a:off x="2072765" y="438747"/>
            <a:ext cx="1203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Algo 2:- FFT</a:t>
            </a:r>
            <a:r>
              <a:rPr lang="en-US" sz="54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 – Fast Fourier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015C5E-AF69-3ACD-E179-4FCD6D12A33F}"/>
              </a:ext>
            </a:extLst>
          </p:cNvPr>
          <p:cNvSpPr txBox="1"/>
          <p:nvPr/>
        </p:nvSpPr>
        <p:spPr>
          <a:xfrm>
            <a:off x="2173053" y="2200158"/>
            <a:ext cx="12523135" cy="3468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Fast Fourier Transform (FFT) decomposes an image into its frequency components.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Instead of sub-bands like DWT, FFT represents the image using low and high frequencies.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Each frequency component indicates how rapidly pixel values change.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23D4FF-BEB8-F4CD-8FB9-DC6FB81806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1714" y="2646300"/>
            <a:ext cx="2824217" cy="2824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01A605-2B72-9951-8D5B-D808C0DAB38E}"/>
              </a:ext>
            </a:extLst>
          </p:cNvPr>
          <p:cNvSpPr txBox="1"/>
          <p:nvPr/>
        </p:nvSpPr>
        <p:spPr>
          <a:xfrm>
            <a:off x="2437180" y="6039804"/>
            <a:ext cx="1252313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Low-Frequency Components (Center – low freq information)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Represent smooth regions and overall illumination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Contain most of the image energy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High-Frequency Components (Outer Regions – high freq information)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Represent edges, sharp transitions, and fine details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Capture textures and noise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Found away from the center of the spectrum</a:t>
            </a:r>
          </a:p>
        </p:txBody>
      </p:sp>
    </p:spTree>
    <p:extLst>
      <p:ext uri="{BB962C8B-B14F-4D97-AF65-F5344CB8AC3E}">
        <p14:creationId xmlns:p14="http://schemas.microsoft.com/office/powerpoint/2010/main" val="310707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F0EB6-979B-4DFA-E62A-D63C105A2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628573-F95B-D39E-E20B-2C9BF66F6006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05C130D-5E8F-F6A4-59F5-DCBC82F6ECE7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0D394D5-D866-62CC-E335-9AD20FD4B155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44092AD-CE16-5DA5-8FBA-50CF137796A3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6EF67FC-928B-C2D9-1B56-C952FCA690D1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9B1B240-C190-35D2-AE65-B078F583335E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787AA-110D-C603-A0E0-AA16F976741E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A0D0B1-B57D-422D-81E6-8EAA562761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387" y="2693193"/>
            <a:ext cx="11211061" cy="44625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BFB9F41-2A75-F8AF-9F4A-612483C3DFD5}"/>
              </a:ext>
            </a:extLst>
          </p:cNvPr>
          <p:cNvSpPr txBox="1"/>
          <p:nvPr/>
        </p:nvSpPr>
        <p:spPr>
          <a:xfrm>
            <a:off x="2901960" y="8055947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0.35</a:t>
            </a:r>
          </a:p>
        </p:txBody>
      </p:sp>
    </p:spTree>
    <p:extLst>
      <p:ext uri="{BB962C8B-B14F-4D97-AF65-F5344CB8AC3E}">
        <p14:creationId xmlns:p14="http://schemas.microsoft.com/office/powerpoint/2010/main" val="3217737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042C25-59BD-1C45-FA7A-AAE70582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EF08D2-DDE1-6490-6D49-75C1FF1F2A4F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7C50AAD-8A8F-8B50-EA03-A8CC30836D85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7FD0045-5D08-AE6D-4297-18613BB8187D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02C7FA-0D88-4B6C-4885-01345C8793B0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5812845-86AA-A479-29EB-4F1B6176FCCA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B22A4E-3919-B774-5221-7F43F47EA749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0D9BE-071D-AA0C-38FF-59222297D014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89BC4A-D87E-38F6-21B5-D2222A0F65C0}"/>
              </a:ext>
            </a:extLst>
          </p:cNvPr>
          <p:cNvSpPr txBox="1"/>
          <p:nvPr/>
        </p:nvSpPr>
        <p:spPr>
          <a:xfrm>
            <a:off x="3470120" y="7593036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31B71B-5180-0953-0DA6-9E499EFEF0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645" y="2884452"/>
            <a:ext cx="11097497" cy="401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2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DDBF-C570-AA2A-C860-7761B3DA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29D07CB-DC52-6479-FE92-121BB4A2E9F9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5DA7AD5-295F-2BC1-219E-48061B00D6F2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337811-7F9F-59F5-548E-74F7F10BB0F3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389A366-78D5-352C-4356-A3386CCBCD2E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266BAE1-A1F3-DDE3-5DEB-B269D45163EE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CE63AC9-1A33-1F9F-7F48-22A3128A38CF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55236-417C-A15E-CD53-72A2D4958468}"/>
              </a:ext>
            </a:extLst>
          </p:cNvPr>
          <p:cNvSpPr txBox="1"/>
          <p:nvPr/>
        </p:nvSpPr>
        <p:spPr>
          <a:xfrm>
            <a:off x="2516982" y="592628"/>
            <a:ext cx="47220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Arturo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BB0381-75F6-CF0E-65AA-141E836F7FA4}"/>
              </a:ext>
            </a:extLst>
          </p:cNvPr>
          <p:cNvSpPr txBox="1"/>
          <p:nvPr/>
        </p:nvSpPr>
        <p:spPr>
          <a:xfrm>
            <a:off x="3124200" y="7767118"/>
            <a:ext cx="108942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rate 0.7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D2322A-E321-A012-9B4B-2299F98E29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392" y="2857500"/>
            <a:ext cx="12246757" cy="446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04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81B13-9E77-F18C-5A8A-93449F95E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8D65C5B-7B18-3290-783D-A7C04EEB45E8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8C0C30-1A92-65F2-9187-68D5D7D0BA58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65BFF86-F158-8F94-0785-37090A727323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3A5998-369E-7DC6-7235-9E574CA62CEE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FF30B70-41C1-A954-08C1-A36D88DCE54D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B1906B5-EBC5-9016-1995-4D0235AB12A2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A10B3-1577-5C51-134A-068FB890E2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3341" y="2726677"/>
            <a:ext cx="7946217" cy="4833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89715A-CBED-8082-710B-4B55EA4B4C83}"/>
              </a:ext>
            </a:extLst>
          </p:cNvPr>
          <p:cNvSpPr txBox="1"/>
          <p:nvPr/>
        </p:nvSpPr>
        <p:spPr>
          <a:xfrm>
            <a:off x="2743200" y="578340"/>
            <a:ext cx="38395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75309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DF656-B4E7-6FEC-B006-EA7E3642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F9F4AE-3AA7-28C7-43C4-6CB5F532BEC3}"/>
              </a:ext>
            </a:extLst>
          </p:cNvPr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CDC1DA1-8BED-AF4F-0FF0-8DD73EC2945E}"/>
              </a:ext>
            </a:extLst>
          </p:cNvPr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CE869D0-4226-AF3E-3503-CA015401068A}"/>
              </a:ext>
            </a:extLst>
          </p:cNvPr>
          <p:cNvSpPr/>
          <p:nvPr/>
        </p:nvSpPr>
        <p:spPr>
          <a:xfrm>
            <a:off x="-1451715" y="4088070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7E4001B-6E5F-C90E-3E80-C599DE9ED323}"/>
              </a:ext>
            </a:extLst>
          </p:cNvPr>
          <p:cNvSpPr/>
          <p:nvPr/>
        </p:nvSpPr>
        <p:spPr>
          <a:xfrm>
            <a:off x="16465823" y="383892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37C0F40-A673-BE4E-5B2A-EAA9FED9FCF9}"/>
              </a:ext>
            </a:extLst>
          </p:cNvPr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06C88A7-A328-DA93-2034-EC121B1D8DD5}"/>
              </a:ext>
            </a:extLst>
          </p:cNvPr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726E5B-7677-332E-BC79-692C6DAFD6A7}"/>
              </a:ext>
            </a:extLst>
          </p:cNvPr>
          <p:cNvSpPr txBox="1"/>
          <p:nvPr/>
        </p:nvSpPr>
        <p:spPr>
          <a:xfrm>
            <a:off x="2195184" y="568815"/>
            <a:ext cx="128694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Arturo" panose="020B0604020202020204" charset="0"/>
              </a:rPr>
              <a:t>Comparative Analysis: DWT vs FFT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B53B86-BEA8-87FE-FF6B-0BDC3296A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334903"/>
              </p:ext>
            </p:extLst>
          </p:nvPr>
        </p:nvGraphicFramePr>
        <p:xfrm>
          <a:off x="2344894" y="1681209"/>
          <a:ext cx="13596924" cy="8060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2308">
                  <a:extLst>
                    <a:ext uri="{9D8B030D-6E8A-4147-A177-3AD203B41FA5}">
                      <a16:colId xmlns:a16="http://schemas.microsoft.com/office/drawing/2014/main" val="3265276292"/>
                    </a:ext>
                  </a:extLst>
                </a:gridCol>
                <a:gridCol w="4532308">
                  <a:extLst>
                    <a:ext uri="{9D8B030D-6E8A-4147-A177-3AD203B41FA5}">
                      <a16:colId xmlns:a16="http://schemas.microsoft.com/office/drawing/2014/main" val="2070067168"/>
                    </a:ext>
                  </a:extLst>
                </a:gridCol>
                <a:gridCol w="4532308">
                  <a:extLst>
                    <a:ext uri="{9D8B030D-6E8A-4147-A177-3AD203B41FA5}">
                      <a16:colId xmlns:a16="http://schemas.microsoft.com/office/drawing/2014/main" val="405772740"/>
                    </a:ext>
                  </a:extLst>
                </a:gridCol>
              </a:tblGrid>
              <a:tr h="8808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DWT (Algorithm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FFT (Algorithm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1277168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Wavelet (time–frequency)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(k-space) domain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514519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MRI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physically consistent with 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Physically consistent with MRI acquisition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915512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Grainy, patchy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Clearer image with better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730582"/>
                  </a:ext>
                </a:extLst>
              </a:tr>
              <a:tr h="519689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RMSE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 Root Mean Square Error)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(more error)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(less error)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47911"/>
                  </a:ext>
                </a:extLst>
              </a:tr>
              <a:tr h="731305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PSNR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(Peak Signal to Noise Ratio): 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image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image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20755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SSIM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Ebrima" panose="02000000000000000000" pitchFamily="2" charset="0"/>
                          <a:cs typeface="Times New Roman" panose="02020603050405020304" pitchFamily="18" charset="0"/>
                        </a:rPr>
                        <a:t>(Structural Similarity Index)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structural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structural similarity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308970"/>
                  </a:ext>
                </a:extLst>
              </a:tr>
              <a:tr h="613711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176132"/>
                  </a:ext>
                </a:extLst>
              </a:tr>
              <a:tr h="896997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than DWT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64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53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049440">
            <a:off x="14849513" y="6194253"/>
            <a:ext cx="3831537" cy="3722977"/>
          </a:xfrm>
          <a:custGeom>
            <a:avLst/>
            <a:gdLst/>
            <a:ahLst/>
            <a:cxnLst/>
            <a:rect l="l" t="t" r="r" b="b"/>
            <a:pathLst>
              <a:path w="3831537" h="3722977">
                <a:moveTo>
                  <a:pt x="0" y="0"/>
                </a:moveTo>
                <a:lnTo>
                  <a:pt x="3831537" y="0"/>
                </a:lnTo>
                <a:lnTo>
                  <a:pt x="3831537" y="3722977"/>
                </a:lnTo>
                <a:lnTo>
                  <a:pt x="0" y="3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077528" y="592628"/>
            <a:ext cx="4155056" cy="3495441"/>
          </a:xfrm>
          <a:custGeom>
            <a:avLst/>
            <a:gdLst/>
            <a:ahLst/>
            <a:cxnLst/>
            <a:rect l="l" t="t" r="r" b="b"/>
            <a:pathLst>
              <a:path w="4155056" h="3495441">
                <a:moveTo>
                  <a:pt x="0" y="0"/>
                </a:moveTo>
                <a:lnTo>
                  <a:pt x="4155056" y="0"/>
                </a:lnTo>
                <a:lnTo>
                  <a:pt x="4155056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111571" y="8228783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1"/>
                </a:lnTo>
                <a:lnTo>
                  <a:pt x="0" y="349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304537" y="-495242"/>
            <a:ext cx="3272607" cy="3495441"/>
          </a:xfrm>
          <a:custGeom>
            <a:avLst/>
            <a:gdLst/>
            <a:ahLst/>
            <a:cxnLst/>
            <a:rect l="l" t="t" r="r" b="b"/>
            <a:pathLst>
              <a:path w="3272607" h="3495441">
                <a:moveTo>
                  <a:pt x="0" y="0"/>
                </a:moveTo>
                <a:lnTo>
                  <a:pt x="3272607" y="0"/>
                </a:lnTo>
                <a:lnTo>
                  <a:pt x="3272607" y="3495442"/>
                </a:lnTo>
                <a:lnTo>
                  <a:pt x="0" y="34954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4601075" y="39104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252689" y="4116332"/>
            <a:ext cx="9782621" cy="1808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12000" dirty="0">
                <a:solidFill>
                  <a:srgbClr val="F4EFEB"/>
                </a:solidFill>
                <a:latin typeface="Arturo"/>
                <a:ea typeface="Arturo"/>
                <a:cs typeface="Arturo"/>
                <a:sym typeface="Arturo"/>
              </a:rPr>
              <a:t>Thank You</a:t>
            </a:r>
          </a:p>
        </p:txBody>
      </p:sp>
      <p:sp>
        <p:nvSpPr>
          <p:cNvPr id="8" name="Freeform 8"/>
          <p:cNvSpPr/>
          <p:nvPr/>
        </p:nvSpPr>
        <p:spPr>
          <a:xfrm>
            <a:off x="12940840" y="5762391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3" y="0"/>
                </a:lnTo>
                <a:lnTo>
                  <a:pt x="2783103" y="2609159"/>
                </a:lnTo>
                <a:lnTo>
                  <a:pt x="0" y="2609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391551" y="4457812"/>
            <a:ext cx="2783103" cy="2609159"/>
          </a:xfrm>
          <a:custGeom>
            <a:avLst/>
            <a:gdLst/>
            <a:ahLst/>
            <a:cxnLst/>
            <a:rect l="l" t="t" r="r" b="b"/>
            <a:pathLst>
              <a:path w="2783103" h="2609159">
                <a:moveTo>
                  <a:pt x="0" y="0"/>
                </a:moveTo>
                <a:lnTo>
                  <a:pt x="2783102" y="0"/>
                </a:lnTo>
                <a:lnTo>
                  <a:pt x="2783102" y="2609158"/>
                </a:lnTo>
                <a:lnTo>
                  <a:pt x="0" y="260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90238">
            <a:off x="-1322866" y="5852350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0" y="0"/>
                </a:moveTo>
                <a:lnTo>
                  <a:pt x="3384438" y="0"/>
                </a:lnTo>
                <a:lnTo>
                  <a:pt x="3384438" y="4752867"/>
                </a:lnTo>
                <a:lnTo>
                  <a:pt x="0" y="4752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287979" flipH="1" flipV="1">
            <a:off x="16134728" y="-361984"/>
            <a:ext cx="3384438" cy="4752867"/>
          </a:xfrm>
          <a:custGeom>
            <a:avLst/>
            <a:gdLst/>
            <a:ahLst/>
            <a:cxnLst/>
            <a:rect l="l" t="t" r="r" b="b"/>
            <a:pathLst>
              <a:path w="3384438" h="4752867">
                <a:moveTo>
                  <a:pt x="3384437" y="4752867"/>
                </a:moveTo>
                <a:lnTo>
                  <a:pt x="0" y="4752867"/>
                </a:lnTo>
                <a:lnTo>
                  <a:pt x="0" y="0"/>
                </a:lnTo>
                <a:lnTo>
                  <a:pt x="3384437" y="0"/>
                </a:lnTo>
                <a:lnTo>
                  <a:pt x="3384437" y="4752867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786</Words>
  <Application>Microsoft Office PowerPoint</Application>
  <PresentationFormat>Custom</PresentationFormat>
  <Paragraphs>137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Ebrima</vt:lpstr>
      <vt:lpstr>Calibri</vt:lpstr>
      <vt:lpstr>Berlin Sans FB</vt:lpstr>
      <vt:lpstr>Arial</vt:lpstr>
      <vt:lpstr>Wingdings</vt:lpstr>
      <vt:lpstr>Times New Roman</vt:lpstr>
      <vt:lpstr>Arturo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Ganesh Khandavilli</cp:lastModifiedBy>
  <cp:revision>7</cp:revision>
  <dcterms:created xsi:type="dcterms:W3CDTF">2006-08-16T00:00:00Z</dcterms:created>
  <dcterms:modified xsi:type="dcterms:W3CDTF">2026-01-21T06:01:37Z</dcterms:modified>
  <dc:identifier>DAG--MtRT4c</dc:identifier>
</cp:coreProperties>
</file>