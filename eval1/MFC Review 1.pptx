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72" r:id="rId8"/>
    <p:sldId id="271" r:id="rId9"/>
    <p:sldId id="270" r:id="rId10"/>
    <p:sldId id="269" r:id="rId11"/>
    <p:sldId id="277" r:id="rId12"/>
    <p:sldId id="278" r:id="rId13"/>
    <p:sldId id="279" r:id="rId14"/>
    <p:sldId id="283" r:id="rId15"/>
    <p:sldId id="282" r:id="rId16"/>
    <p:sldId id="273" r:id="rId17"/>
    <p:sldId id="280" r:id="rId18"/>
    <p:sldId id="281" r:id="rId19"/>
    <p:sldId id="275" r:id="rId20"/>
    <p:sldId id="274" r:id="rId21"/>
    <p:sldId id="267" r:id="rId22"/>
  </p:sldIdLst>
  <p:sldSz cx="18288000" cy="10287000"/>
  <p:notesSz cx="6858000" cy="9144000"/>
  <p:embeddedFontLst>
    <p:embeddedFont>
      <p:font typeface="Arturo" panose="020B0604020202020204" charset="0"/>
      <p:regular r:id="rId23"/>
    </p:embeddedFont>
    <p:embeddedFont>
      <p:font typeface="Berlin Sans FB" panose="020E0602020502020306" pitchFamily="34" charset="0"/>
      <p:regular r:id="rId24"/>
      <p:bold r:id="rId25"/>
    </p:embeddedFont>
    <p:embeddedFont>
      <p:font typeface="Ebrima" panose="02000000000000000000" pitchFamily="2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92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07-Feb-26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0238">
            <a:off x="-1292438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287979" flipH="1" flipV="1">
            <a:off x="16165156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111571" y="8228783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304537" y="-495242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601075" y="39104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9"/>
                </a:lnTo>
                <a:lnTo>
                  <a:pt x="0" y="2609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552827" y="2767824"/>
            <a:ext cx="13630098" cy="2579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6600" dirty="0">
                <a:solidFill>
                  <a:schemeClr val="accent3">
                    <a:lumMod val="60000"/>
                    <a:lumOff val="40000"/>
                  </a:schemeClr>
                </a:solidFill>
                <a:latin typeface="Berlin Sans FB" panose="020E0602020502020306" pitchFamily="34" charset="0"/>
                <a:cs typeface="Nyutro Sans" panose="020B0604020202020204" charset="0"/>
              </a:rPr>
              <a:t>Sparse Transform and Compressed Sensing for MRI Image Reconstruction</a:t>
            </a:r>
            <a:endParaRPr lang="en-US" sz="6600" dirty="0">
              <a:solidFill>
                <a:schemeClr val="accent3">
                  <a:lumMod val="60000"/>
                  <a:lumOff val="40000"/>
                </a:schemeClr>
              </a:solidFill>
              <a:latin typeface="Berlin Sans FB" panose="020E0602020502020306" pitchFamily="34" charset="0"/>
              <a:ea typeface="Arturo"/>
              <a:cs typeface="Nyutro Sans" panose="020B0604020202020204" charset="0"/>
              <a:sym typeface="Arturo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2940840" y="576239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9"/>
                </a:lnTo>
                <a:lnTo>
                  <a:pt x="0" y="2609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391551" y="4457812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2" y="0"/>
                </a:lnTo>
                <a:lnTo>
                  <a:pt x="2783102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EE6C83-663D-55BF-7A54-3E549ECF43E0}"/>
              </a:ext>
            </a:extLst>
          </p:cNvPr>
          <p:cNvSpPr txBox="1"/>
          <p:nvPr/>
        </p:nvSpPr>
        <p:spPr>
          <a:xfrm>
            <a:off x="9020480" y="5524500"/>
            <a:ext cx="5762319" cy="4690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16: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Sathvik - 24240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Ch. Uday  - 24210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Varshini - 24216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Sai Ganesh - 24226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84588" y="947972"/>
            <a:ext cx="9782621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/>
                <a:ea typeface="Arturo"/>
                <a:cs typeface="Arturo"/>
                <a:sym typeface="Arturo"/>
              </a:rPr>
              <a:t>What is MRI?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05454" y="2340348"/>
            <a:ext cx="13717047" cy="6181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MRI (Magnetic Resonance Imaging) is a medical imaging technique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Used to see brain, spine, organs, tissues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Produces high-quality images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Problem: MRI scan takes 30–40 minutes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Long scan time causes: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Patient discomfort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High hospital cost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Large data storage</a:t>
            </a:r>
            <a:endParaRPr lang="en-US" sz="3400"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  <a:sym typeface="Nunito Sans Condense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DE28B0-09C1-9F24-8516-3E944A0A3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5762391"/>
            <a:ext cx="7162542" cy="38797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820892" y="681571"/>
            <a:ext cx="9007348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/>
                <a:ea typeface="Arturo"/>
                <a:cs typeface="Arturo"/>
                <a:sym typeface="Arturo"/>
              </a:rPr>
              <a:t>Problem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A17E7C-9602-7E05-ABCA-A9829A9DA280}"/>
              </a:ext>
            </a:extLst>
          </p:cNvPr>
          <p:cNvSpPr txBox="1"/>
          <p:nvPr/>
        </p:nvSpPr>
        <p:spPr>
          <a:xfrm>
            <a:off x="2547289" y="2476500"/>
            <a:ext cx="14441774" cy="45974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MRI collects a huge amount of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Full data collection = long scan time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If we reduce data → image quality decreases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Goal: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Get good-quality MRI images using </a:t>
            </a:r>
            <a:r>
              <a:rPr lang="en-US" sz="4000" b="1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less data</a:t>
            </a: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and </a:t>
            </a:r>
            <a:r>
              <a:rPr lang="en-US" sz="4000" b="1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less time</a:t>
            </a:r>
            <a:endParaRPr lang="en-US" sz="4000"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2050" name="Picture 2" descr="Magnetic resonance imaging of the brain ...">
            <a:extLst>
              <a:ext uri="{FF2B5EF4-FFF2-40B4-BE49-F238E27FC236}">
                <a16:creationId xmlns:a16="http://schemas.microsoft.com/office/drawing/2014/main" id="{3DE33230-29B7-37A0-EA4D-427E1BD84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0" y="2627554"/>
            <a:ext cx="2503036" cy="267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220850" y="592628"/>
            <a:ext cx="12961874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What is Compressed Sensing (CS)?</a:t>
            </a:r>
            <a:endParaRPr lang="en-US" sz="50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  <a:ea typeface="Arturo"/>
              <a:cs typeface="Arturo"/>
              <a:sym typeface="Arturo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9244FF-5585-2FB3-F745-C808CA24C02A}"/>
              </a:ext>
            </a:extLst>
          </p:cNvPr>
          <p:cNvSpPr txBox="1"/>
          <p:nvPr/>
        </p:nvSpPr>
        <p:spPr>
          <a:xfrm>
            <a:off x="2765134" y="2247900"/>
            <a:ext cx="10981081" cy="5517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Compressed Sensing is a smart signal processing technique that: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Uses fewer measurements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Still reconstructs the original image accurately</a:t>
            </a:r>
          </a:p>
          <a:p>
            <a:pPr>
              <a:lnSpc>
                <a:spcPct val="150000"/>
              </a:lnSpc>
            </a:pPr>
            <a:endParaRPr lang="en-US" sz="4000"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“We don’t need all data if the image is sparse.”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4C65E6-43BB-2174-E472-5C5220DFDF48}"/>
              </a:ext>
            </a:extLst>
          </p:cNvPr>
          <p:cNvSpPr txBox="1"/>
          <p:nvPr/>
        </p:nvSpPr>
        <p:spPr>
          <a:xfrm>
            <a:off x="1820892" y="442852"/>
            <a:ext cx="152960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Key Principles of Compressed Sensing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E2E890-313C-5EB4-5370-1E8AE7313EA5}"/>
              </a:ext>
            </a:extLst>
          </p:cNvPr>
          <p:cNvSpPr txBox="1"/>
          <p:nvPr/>
        </p:nvSpPr>
        <p:spPr>
          <a:xfrm>
            <a:off x="2703341" y="1790700"/>
            <a:ext cx="10894218" cy="748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Sparsity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Image has many unimportant values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Only few important coefficients matter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Incoherent Sampling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Randomly collect data (not line by line)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Avoids repeating similar information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Non-linear Reconstruction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Use optimization algorithms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Recover image from incomplete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514600" y="592628"/>
            <a:ext cx="11597809" cy="1778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Why Compressed Sensing is Important for MRI</a:t>
            </a:r>
            <a:endParaRPr lang="en-US" sz="50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  <a:ea typeface="Arturo"/>
              <a:cs typeface="Arturo"/>
              <a:sym typeface="Artu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590152" y="3062643"/>
            <a:ext cx="9962664" cy="499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Reduces MRI scan time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Less patient discomfort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Faster diagnosis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Lower storage and computation cost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Maintains diagnostic image quality</a:t>
            </a:r>
            <a:endParaRPr lang="en-US" sz="4000"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  <a:sym typeface="Nunito Sans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312EA-5247-FD1F-5EE7-BDA1B059B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EF73219-01E1-27A2-0D11-3CFBC0375DC8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01A9C5C-66DE-0ECA-737B-B63734233EC5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2522A1-8204-ADEC-BC1A-40393BCDBDF8}"/>
              </a:ext>
            </a:extLst>
          </p:cNvPr>
          <p:cNvSpPr txBox="1"/>
          <p:nvPr/>
        </p:nvSpPr>
        <p:spPr>
          <a:xfrm>
            <a:off x="2315367" y="2523603"/>
            <a:ext cx="14150456" cy="5517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To simulate under sampled MRI reconstruction.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To implement sparse transform-based reconstruction </a:t>
            </a:r>
            <a:r>
              <a:rPr lang="en-US" alt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  algorithms.</a:t>
            </a:r>
            <a:endParaRPr lang="en-US" altLang="en-US" sz="4000"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To compare reconstruction quality using different methods.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To analyze trade-offs between image quality and computational complexity.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231216-CDC5-6189-6085-028DEDC91280}"/>
              </a:ext>
            </a:extLst>
          </p:cNvPr>
          <p:cNvSpPr txBox="1"/>
          <p:nvPr/>
        </p:nvSpPr>
        <p:spPr>
          <a:xfrm>
            <a:off x="2667000" y="858090"/>
            <a:ext cx="108942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OBJECTIVES</a:t>
            </a:r>
            <a:endParaRPr lang="en-US" sz="54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65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637422-DB33-169C-7B97-EDE964C7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6FF6B75-FFC5-F005-6A60-E92A4DAEBADB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366B030-C874-17A2-E505-E14C1E4A1715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A80AD-32ED-30FD-DDC4-8BE4F472C03D}"/>
              </a:ext>
            </a:extLst>
          </p:cNvPr>
          <p:cNvSpPr txBox="1"/>
          <p:nvPr/>
        </p:nvSpPr>
        <p:spPr>
          <a:xfrm>
            <a:off x="2788421" y="2038261"/>
            <a:ext cx="10894218" cy="6585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Input MRI image acquisition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Image preprocessing and normalization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Transformation to sparse domain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Random under-sampling of coefficients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Inverse reconstruction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Performance evaluation using image quality metrics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91932-E4CD-D8D1-4AD2-F29C6FBE5606}"/>
              </a:ext>
            </a:extLst>
          </p:cNvPr>
          <p:cNvSpPr txBox="1"/>
          <p:nvPr/>
        </p:nvSpPr>
        <p:spPr>
          <a:xfrm>
            <a:off x="2514600" y="611678"/>
            <a:ext cx="108942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METHODOLOGY</a:t>
            </a:r>
            <a:endParaRPr lang="en-US" sz="54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33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26CD1-5F0F-EFEC-64D1-BABC5E11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0ED1E64-4C0A-7590-BD87-44B594EAD3B0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961F5A5-8363-B982-947F-72DD34279576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E0769-2844-D5EE-7E69-C93A0EFC1629}"/>
              </a:ext>
            </a:extLst>
          </p:cNvPr>
          <p:cNvSpPr txBox="1"/>
          <p:nvPr/>
        </p:nvSpPr>
        <p:spPr>
          <a:xfrm>
            <a:off x="2783658" y="2373685"/>
            <a:ext cx="10894218" cy="5536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The paper compares 4 algorithms: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DWT - Discrete Wavelet Transform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FFT - Fast Fourier Transform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DCT - Discrete Cosine Transform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Basis Pursuit (BP) - True Compressed Sensing method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2D9972-76F0-CA27-16E6-55478EB843C0}"/>
              </a:ext>
            </a:extLst>
          </p:cNvPr>
          <p:cNvSpPr txBox="1"/>
          <p:nvPr/>
        </p:nvSpPr>
        <p:spPr>
          <a:xfrm>
            <a:off x="2438400" y="592628"/>
            <a:ext cx="12496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Reconstruction Methods Used</a:t>
            </a:r>
          </a:p>
        </p:txBody>
      </p:sp>
    </p:spTree>
    <p:extLst>
      <p:ext uri="{BB962C8B-B14F-4D97-AF65-F5344CB8AC3E}">
        <p14:creationId xmlns:p14="http://schemas.microsoft.com/office/powerpoint/2010/main" val="1440894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C6613-64C9-9214-DEFC-E034E4683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3BBC7E3-C7BE-81C6-9025-23742865EF14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9FA7183-D775-7EE8-A466-229886ED24E0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D0B1B-20DF-0E0E-A014-7AFF058FFDE4}"/>
              </a:ext>
            </a:extLst>
          </p:cNvPr>
          <p:cNvSpPr txBox="1"/>
          <p:nvPr/>
        </p:nvSpPr>
        <p:spPr>
          <a:xfrm>
            <a:off x="1557959" y="2798070"/>
            <a:ext cx="12723678" cy="7387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take a big picture (MRI scan).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break it into smaller building blocks (wavelet coefficients).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keep only a random portion of those blocks (sampling).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try to rebuild the picture from those fewer blocks.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Finally, you check how close the rebuilt picture is to the original.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Pros: Preserves edges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Cons: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Not consistent with real MRI physics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Image quality is low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08A0A5-1ECF-6AB8-DB1D-2EEB67E87454}"/>
              </a:ext>
            </a:extLst>
          </p:cNvPr>
          <p:cNvSpPr txBox="1"/>
          <p:nvPr/>
        </p:nvSpPr>
        <p:spPr>
          <a:xfrm>
            <a:off x="2537543" y="770688"/>
            <a:ext cx="1203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Algo 1:- DWT</a:t>
            </a: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 – Discrete Wavelet Transform</a:t>
            </a:r>
          </a:p>
        </p:txBody>
      </p:sp>
      <p:pic>
        <p:nvPicPr>
          <p:cNvPr id="1026" name="Picture 2" descr="Wavelet - Wikipedia">
            <a:extLst>
              <a:ext uri="{FF2B5EF4-FFF2-40B4-BE49-F238E27FC236}">
                <a16:creationId xmlns:a16="http://schemas.microsoft.com/office/drawing/2014/main" id="{74C63F93-2245-B8FE-D023-61DCF4658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1427" y="2798070"/>
            <a:ext cx="3238603" cy="314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518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DB962D-04B3-6F0D-9386-785FF559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3D3D2D0-8A69-8C44-8775-E7A0508E5237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86A8B3D-3260-DA57-5C30-1282909864B1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898A3A-EB81-BFEB-C297-1938202D4B38}"/>
              </a:ext>
            </a:extLst>
          </p:cNvPr>
          <p:cNvSpPr txBox="1"/>
          <p:nvPr/>
        </p:nvSpPr>
        <p:spPr>
          <a:xfrm>
            <a:off x="2190422" y="370271"/>
            <a:ext cx="1203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Algo 1:- DWT</a:t>
            </a: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 – Discrete Wavelet Transform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34233-0A05-EC29-A697-4471BA8A5BE5}"/>
              </a:ext>
            </a:extLst>
          </p:cNvPr>
          <p:cNvSpPr txBox="1"/>
          <p:nvPr/>
        </p:nvSpPr>
        <p:spPr>
          <a:xfrm>
            <a:off x="1504411" y="2775598"/>
            <a:ext cx="10716164" cy="41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LL (Approximation) - Overall shape and smooth regions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LH (Horizontal Details) - Horizontal edges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HL (Vertical Details) - Vertical edges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HH (Diagonal Details) - Fine textures and noise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F75FBD-4088-6781-BB15-380347B5ED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2376544"/>
            <a:ext cx="5423283" cy="58149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6DE9AB-A274-ED7E-DE70-FC24CC603824}"/>
              </a:ext>
            </a:extLst>
          </p:cNvPr>
          <p:cNvSpPr txBox="1"/>
          <p:nvPr/>
        </p:nvSpPr>
        <p:spPr>
          <a:xfrm>
            <a:off x="3141552" y="7559501"/>
            <a:ext cx="940026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LL- Low pass filter applied to rows and columns</a:t>
            </a:r>
          </a:p>
          <a:p>
            <a:r>
              <a:rPr lang="en-US" sz="3200" dirty="0">
                <a:solidFill>
                  <a:schemeClr val="bg1"/>
                </a:solidFill>
              </a:rPr>
              <a:t>LH – Low pass filter to rows , high pass filter to columns</a:t>
            </a:r>
          </a:p>
          <a:p>
            <a:r>
              <a:rPr lang="en-US" sz="3200" dirty="0">
                <a:solidFill>
                  <a:schemeClr val="bg1"/>
                </a:solidFill>
              </a:rPr>
              <a:t>HL – High pass filter to rows , low pass filter to columns</a:t>
            </a:r>
          </a:p>
          <a:p>
            <a:r>
              <a:rPr lang="en-US" sz="3200" dirty="0">
                <a:solidFill>
                  <a:schemeClr val="bg1"/>
                </a:solidFill>
              </a:rPr>
              <a:t>HH -  High pass filter applied to rows and columns</a:t>
            </a:r>
          </a:p>
        </p:txBody>
      </p:sp>
    </p:spTree>
    <p:extLst>
      <p:ext uri="{BB962C8B-B14F-4D97-AF65-F5344CB8AC3E}">
        <p14:creationId xmlns:p14="http://schemas.microsoft.com/office/powerpoint/2010/main" val="1639212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FF783-471A-49BD-7923-AB79FB6B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70A1172-0A28-295A-4E59-CE46803D63DD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7E21830-4F3D-5165-CBF5-5016DD2E63AF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A4A773-322F-048E-BA08-2B668DF22E77}"/>
              </a:ext>
            </a:extLst>
          </p:cNvPr>
          <p:cNvSpPr txBox="1"/>
          <p:nvPr/>
        </p:nvSpPr>
        <p:spPr>
          <a:xfrm>
            <a:off x="1557959" y="2798070"/>
            <a:ext cx="12723678" cy="6853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take a big picture (MRI scan).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convert it into frequency components.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keep only a random portion of those frequency components (sampling).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try to rebuild the picture using the inverse FFT from those fewer components.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Finally, you check how close the rebuilt picture is to the original.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Pros: Physically related to MRI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Cons: Visible noise and artifacts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2A83C5-BE21-6F06-4E99-88BF7DEB6C4C}"/>
              </a:ext>
            </a:extLst>
          </p:cNvPr>
          <p:cNvSpPr txBox="1"/>
          <p:nvPr/>
        </p:nvSpPr>
        <p:spPr>
          <a:xfrm>
            <a:off x="2537543" y="770688"/>
            <a:ext cx="1203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Algo 2:- FFT</a:t>
            </a: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 – Fast Fourier Transform</a:t>
            </a:r>
          </a:p>
        </p:txBody>
      </p:sp>
    </p:spTree>
    <p:extLst>
      <p:ext uri="{BB962C8B-B14F-4D97-AF65-F5344CB8AC3E}">
        <p14:creationId xmlns:p14="http://schemas.microsoft.com/office/powerpoint/2010/main" val="3753409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2B45EE-9ADC-0C86-AB38-2DE439E0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4B2820A-9760-A0F4-2928-76B852D8C95A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57AAEB6-10FE-9AC9-2E56-753B9DC42B78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31145D-509B-00CE-751F-5FDF5DDC3184}"/>
              </a:ext>
            </a:extLst>
          </p:cNvPr>
          <p:cNvSpPr txBox="1"/>
          <p:nvPr/>
        </p:nvSpPr>
        <p:spPr>
          <a:xfrm>
            <a:off x="2072765" y="438747"/>
            <a:ext cx="1203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Algo 2:- FFT</a:t>
            </a: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 – Fast Fourier Transform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15C5E-AF69-3ACD-E179-4FCD6D12A33F}"/>
              </a:ext>
            </a:extLst>
          </p:cNvPr>
          <p:cNvSpPr txBox="1"/>
          <p:nvPr/>
        </p:nvSpPr>
        <p:spPr>
          <a:xfrm>
            <a:off x="2173053" y="2200158"/>
            <a:ext cx="12523135" cy="346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Fast Fourier Transform (FFT) decomposes an image into its frequency components.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Instead of sub-bands like DWT, FFT represents the image using low and high frequencies.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Each frequency component indicates how rapidly pixel values change.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23D4FF-BEB8-F4CD-8FB9-DC6FB81806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1714" y="2646300"/>
            <a:ext cx="2824217" cy="2824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01A605-2B72-9951-8D5B-D808C0DAB38E}"/>
              </a:ext>
            </a:extLst>
          </p:cNvPr>
          <p:cNvSpPr txBox="1"/>
          <p:nvPr/>
        </p:nvSpPr>
        <p:spPr>
          <a:xfrm>
            <a:off x="2437180" y="6039804"/>
            <a:ext cx="1252313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Low-Frequency Components (Center – low freq information)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Represent smooth regions and overall illumination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Contain most of the image energy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High-Frequency Components (Outer Regions – high freq information)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Represent edges, sharp transitions, and fine details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Capture textures and noise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Found away from the center of the spectrum</a:t>
            </a:r>
          </a:p>
        </p:txBody>
      </p:sp>
    </p:spTree>
    <p:extLst>
      <p:ext uri="{BB962C8B-B14F-4D97-AF65-F5344CB8AC3E}">
        <p14:creationId xmlns:p14="http://schemas.microsoft.com/office/powerpoint/2010/main" val="3107071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356DA-2CFD-78CF-D6DC-E1EA91B9B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2FD0123-0FF2-0EB3-6A77-5ADAF574B499}"/>
              </a:ext>
            </a:extLst>
          </p:cNvPr>
          <p:cNvSpPr/>
          <p:nvPr/>
        </p:nvSpPr>
        <p:spPr>
          <a:xfrm>
            <a:off x="-2276145" y="0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C714536-8BD4-7F31-2ED1-73680D8881C3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8D3892-4120-E677-A1A9-AE6E30A9B529}"/>
              </a:ext>
            </a:extLst>
          </p:cNvPr>
          <p:cNvSpPr txBox="1"/>
          <p:nvPr/>
        </p:nvSpPr>
        <p:spPr>
          <a:xfrm>
            <a:off x="2438400" y="342900"/>
            <a:ext cx="1203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Algo 3:- DCT- Discrete Wavelet Transform</a:t>
            </a:r>
            <a:endParaRPr lang="en-US" sz="54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7EE41-74DC-8F50-7B7A-9B6B5B0252DF}"/>
              </a:ext>
            </a:extLst>
          </p:cNvPr>
          <p:cNvSpPr txBox="1"/>
          <p:nvPr/>
        </p:nvSpPr>
        <p:spPr>
          <a:xfrm>
            <a:off x="1371600" y="2552700"/>
            <a:ext cx="16002309" cy="6238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(DCT) represents an image as a sum of cosine functions of different frequencies.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It converts an image from the spatial domain to the frequency domain.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It separates the image into low-frequency (smooth areas) and high-frequency (edges and details) components..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Most important image information is concentrated in low-frequency coefficients (top-left region).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Small high-frequency coefficients are less important and can be removed to reduce data size.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The image is reconstructed by applying Inverse DCT (IDCT) using the selected coefficients</a:t>
            </a:r>
          </a:p>
        </p:txBody>
      </p:sp>
    </p:spTree>
    <p:extLst>
      <p:ext uri="{BB962C8B-B14F-4D97-AF65-F5344CB8AC3E}">
        <p14:creationId xmlns:p14="http://schemas.microsoft.com/office/powerpoint/2010/main" val="3909054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718C41-2417-8CCC-3037-8A06DF7ED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26551A9-5E9B-BD91-E5F6-315041DB12CE}"/>
              </a:ext>
            </a:extLst>
          </p:cNvPr>
          <p:cNvSpPr/>
          <p:nvPr/>
        </p:nvSpPr>
        <p:spPr>
          <a:xfrm>
            <a:off x="-2209800" y="190500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9E8EBE6-D304-71ED-E49C-8DD7C2B0A2E9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1F3E9E-06DB-89D5-FBF7-5B510FC1DCB0}"/>
              </a:ext>
            </a:extLst>
          </p:cNvPr>
          <p:cNvSpPr txBox="1"/>
          <p:nvPr/>
        </p:nvSpPr>
        <p:spPr>
          <a:xfrm>
            <a:off x="1676400" y="419100"/>
            <a:ext cx="16306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Algo 3:- DCT- Discrete Wavelet Transform</a:t>
            </a:r>
            <a:endParaRPr lang="en-US" sz="54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CED36C-D986-C479-2D3B-3799FFCF7FCC}"/>
              </a:ext>
            </a:extLst>
          </p:cNvPr>
          <p:cNvSpPr txBox="1"/>
          <p:nvPr/>
        </p:nvSpPr>
        <p:spPr>
          <a:xfrm>
            <a:off x="1383406" y="1790700"/>
            <a:ext cx="15521188" cy="6931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    DCT-based processing in the project:</a:t>
            </a:r>
          </a:p>
          <a:p>
            <a:pPr>
              <a:lnSpc>
                <a:spcPct val="150000"/>
              </a:lnSpc>
            </a:pPr>
            <a:endParaRPr lang="en-US" sz="3000"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The input MRI/image is first converted to normalized grayscale format..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2D DCT (dct2) is applied to transform the image into frequency coefficients.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Coefficients are sorted by magnitude, and only a selected percentage (sampling rate) is retained.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Remaining coefficients are set to zero to simulate compression / sparse representation.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The image is reconstructed using Inverse DCT (idct2) and evaluated using PSNR, RMSE, and SSIM.</a:t>
            </a:r>
          </a:p>
        </p:txBody>
      </p:sp>
    </p:spTree>
    <p:extLst>
      <p:ext uri="{BB962C8B-B14F-4D97-AF65-F5344CB8AC3E}">
        <p14:creationId xmlns:p14="http://schemas.microsoft.com/office/powerpoint/2010/main" val="2165477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9F0EB6-979B-4DFA-E62A-D63C105A2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05C130D-5E8F-F6A4-59F5-DCBC82F6ECE7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44092AD-CE16-5DA5-8FBA-50CF137796A3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4787AA-110D-C603-A0E0-AA16F976741E}"/>
              </a:ext>
            </a:extLst>
          </p:cNvPr>
          <p:cNvSpPr txBox="1"/>
          <p:nvPr/>
        </p:nvSpPr>
        <p:spPr>
          <a:xfrm>
            <a:off x="2516982" y="592628"/>
            <a:ext cx="4722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Results</a:t>
            </a:r>
            <a:endParaRPr lang="en-US" sz="72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A0D0B1-B57D-422D-81E6-8EAA562761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387" y="2693193"/>
            <a:ext cx="11211061" cy="44625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FB9F41-2A75-F8AF-9F4A-612483C3DFD5}"/>
              </a:ext>
            </a:extLst>
          </p:cNvPr>
          <p:cNvSpPr txBox="1"/>
          <p:nvPr/>
        </p:nvSpPr>
        <p:spPr>
          <a:xfrm>
            <a:off x="2901960" y="8055947"/>
            <a:ext cx="108942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rate 0.35</a:t>
            </a:r>
          </a:p>
        </p:txBody>
      </p:sp>
    </p:spTree>
    <p:extLst>
      <p:ext uri="{BB962C8B-B14F-4D97-AF65-F5344CB8AC3E}">
        <p14:creationId xmlns:p14="http://schemas.microsoft.com/office/powerpoint/2010/main" val="3217737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42C25-59BD-1C45-FA7A-AAE705829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7C50AAD-8A8F-8B50-EA03-A8CC30836D85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D02C7FA-0D88-4B6C-4885-01345C8793B0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20D9BE-071D-AA0C-38FF-59222297D014}"/>
              </a:ext>
            </a:extLst>
          </p:cNvPr>
          <p:cNvSpPr txBox="1"/>
          <p:nvPr/>
        </p:nvSpPr>
        <p:spPr>
          <a:xfrm>
            <a:off x="2516982" y="592628"/>
            <a:ext cx="4722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Results</a:t>
            </a:r>
            <a:endParaRPr lang="en-US" sz="72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89BC4A-D87E-38F6-21B5-D2222A0F65C0}"/>
              </a:ext>
            </a:extLst>
          </p:cNvPr>
          <p:cNvSpPr txBox="1"/>
          <p:nvPr/>
        </p:nvSpPr>
        <p:spPr>
          <a:xfrm>
            <a:off x="3470120" y="7593036"/>
            <a:ext cx="108942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rate 0.5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31B71B-5180-0953-0DA6-9E499EFEF0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645" y="2884452"/>
            <a:ext cx="11097497" cy="401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24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4DDBF-C570-AA2A-C860-7761B3DA1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5DA7AD5-295F-2BC1-219E-48061B00D6F2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389A366-78D5-352C-4356-A3386CCBCD2E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955236-417C-A15E-CD53-72A2D4958468}"/>
              </a:ext>
            </a:extLst>
          </p:cNvPr>
          <p:cNvSpPr txBox="1"/>
          <p:nvPr/>
        </p:nvSpPr>
        <p:spPr>
          <a:xfrm>
            <a:off x="2516982" y="592628"/>
            <a:ext cx="4722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Results</a:t>
            </a:r>
            <a:endParaRPr lang="en-US" sz="72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BB0381-75F6-CF0E-65AA-141E836F7FA4}"/>
              </a:ext>
            </a:extLst>
          </p:cNvPr>
          <p:cNvSpPr txBox="1"/>
          <p:nvPr/>
        </p:nvSpPr>
        <p:spPr>
          <a:xfrm>
            <a:off x="3124200" y="7767118"/>
            <a:ext cx="108942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rate 0.7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D2322A-E321-A012-9B4B-2299F98E2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392" y="2857500"/>
            <a:ext cx="12246757" cy="446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704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81B13-9E77-F18C-5A8A-93449F95E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A8C0C30-1A92-65F2-9187-68D5D7D0BA58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63A5998-369E-7DC6-7235-9E574CA62CEE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A10B3-1577-5C51-134A-068FB890E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3341" y="2726677"/>
            <a:ext cx="7946217" cy="48336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89715A-CBED-8082-710B-4B55EA4B4C83}"/>
              </a:ext>
            </a:extLst>
          </p:cNvPr>
          <p:cNvSpPr txBox="1"/>
          <p:nvPr/>
        </p:nvSpPr>
        <p:spPr>
          <a:xfrm>
            <a:off x="2743200" y="578340"/>
            <a:ext cx="38395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753097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DF656-B4E7-6FEC-B006-EA7E3642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CDC1DA1-8BED-AF4F-0FF0-8DD73EC2945E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7E4001B-6E5F-C90E-3E80-C599DE9ED323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726E5B-7677-332E-BC79-692C6DAFD6A7}"/>
              </a:ext>
            </a:extLst>
          </p:cNvPr>
          <p:cNvSpPr txBox="1"/>
          <p:nvPr/>
        </p:nvSpPr>
        <p:spPr>
          <a:xfrm>
            <a:off x="2195184" y="568815"/>
            <a:ext cx="128694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Comparative Analysis: DWT vs FFT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B53B86-BEA8-87FE-FF6B-0BDC3296A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334903"/>
              </p:ext>
            </p:extLst>
          </p:nvPr>
        </p:nvGraphicFramePr>
        <p:xfrm>
          <a:off x="2344894" y="1681209"/>
          <a:ext cx="13596924" cy="806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2308">
                  <a:extLst>
                    <a:ext uri="{9D8B030D-6E8A-4147-A177-3AD203B41FA5}">
                      <a16:colId xmlns:a16="http://schemas.microsoft.com/office/drawing/2014/main" val="3265276292"/>
                    </a:ext>
                  </a:extLst>
                </a:gridCol>
                <a:gridCol w="4532308">
                  <a:extLst>
                    <a:ext uri="{9D8B030D-6E8A-4147-A177-3AD203B41FA5}">
                      <a16:colId xmlns:a16="http://schemas.microsoft.com/office/drawing/2014/main" val="2070067168"/>
                    </a:ext>
                  </a:extLst>
                </a:gridCol>
                <a:gridCol w="4532308">
                  <a:extLst>
                    <a:ext uri="{9D8B030D-6E8A-4147-A177-3AD203B41FA5}">
                      <a16:colId xmlns:a16="http://schemas.microsoft.com/office/drawing/2014/main" val="405772740"/>
                    </a:ext>
                  </a:extLst>
                </a:gridCol>
              </a:tblGrid>
              <a:tr h="8808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DWT (Algorithm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FFT (Algorithm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277168"/>
                  </a:ext>
                </a:extLst>
              </a:tr>
              <a:tr h="519689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Wavelet (time–frequency)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(k-space) domain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514519"/>
                  </a:ext>
                </a:extLst>
              </a:tr>
              <a:tr h="519689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MRI 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physically consistent with MRI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Physically consistent with MRI acquisition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915512"/>
                  </a:ext>
                </a:extLst>
              </a:tr>
              <a:tr h="519689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Grainy, patchy reconstruction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Clearer image with better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730582"/>
                  </a:ext>
                </a:extLst>
              </a:tr>
              <a:tr h="519689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Ebrima" panose="02000000000000000000" pitchFamily="2" charset="0"/>
                          <a:cs typeface="Times New Roman" panose="02020603050405020304" pitchFamily="18" charset="0"/>
                        </a:rPr>
                        <a:t>( Root Mean Square Error)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(more error)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(less error)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247911"/>
                  </a:ext>
                </a:extLst>
              </a:tr>
              <a:tr h="731305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PSNR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Ebrima" panose="02000000000000000000" pitchFamily="2" charset="0"/>
                          <a:cs typeface="Times New Roman" panose="02020603050405020304" pitchFamily="18" charset="0"/>
                        </a:rPr>
                        <a:t>(Peak Signal to Noise Ratio): 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image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image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20755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SSIM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Ebrima" panose="02000000000000000000" pitchFamily="2" charset="0"/>
                          <a:cs typeface="Times New Roman" panose="02020603050405020304" pitchFamily="18" charset="0"/>
                        </a:rPr>
                        <a:t>(Structural Similarity Index)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structural 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structural similarity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308970"/>
                  </a:ext>
                </a:extLst>
              </a:tr>
              <a:tr h="613711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and 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and 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176132"/>
                  </a:ext>
                </a:extLst>
              </a:tr>
              <a:tr h="896997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than DWT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64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536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111571" y="8228783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304537" y="-495242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601075" y="39104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9"/>
                </a:lnTo>
                <a:lnTo>
                  <a:pt x="0" y="26091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252689" y="4116332"/>
            <a:ext cx="9782621" cy="180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12000" dirty="0">
                <a:solidFill>
                  <a:srgbClr val="F4EFEB"/>
                </a:solidFill>
                <a:latin typeface="Arturo"/>
                <a:ea typeface="Arturo"/>
                <a:cs typeface="Arturo"/>
                <a:sym typeface="Arturo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>
            <a:off x="12940840" y="576239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9"/>
                </a:lnTo>
                <a:lnTo>
                  <a:pt x="0" y="26091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1391551" y="4457812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2" y="0"/>
                </a:lnTo>
                <a:lnTo>
                  <a:pt x="2783102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90238">
            <a:off x="-1344195" y="5879025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977</Words>
  <Application>Microsoft Office PowerPoint</Application>
  <PresentationFormat>Custom</PresentationFormat>
  <Paragraphs>152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Times New Roman</vt:lpstr>
      <vt:lpstr>Ebrima</vt:lpstr>
      <vt:lpstr>Arturo</vt:lpstr>
      <vt:lpstr>Wingdings</vt:lpstr>
      <vt:lpstr>Berlin Sans FB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Ganesh Khandavilli</cp:lastModifiedBy>
  <cp:revision>10</cp:revision>
  <dcterms:created xsi:type="dcterms:W3CDTF">2006-08-16T00:00:00Z</dcterms:created>
  <dcterms:modified xsi:type="dcterms:W3CDTF">2026-02-07T10:47:40Z</dcterms:modified>
  <dc:identifier>DAG--MtRT4c</dc:identifier>
</cp:coreProperties>
</file>